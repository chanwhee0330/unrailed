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ame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맑은 고딕"/>
              </a:rPr>
              <a:t>윈도우 프로그래밍 텀 프로젝트 · 게임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E2E8F0"/>
                </a:solidFill>
                <a:latin typeface="맑은 고딕"/>
              </a:rPr>
              <a:t>Unrailed! </a:t>
            </a:r>
            <a:r>
              <a:rPr sz="5400" b="1">
                <a:solidFill>
                  <a:srgbClr val="F59E0B"/>
                </a:solidFill>
                <a:latin typeface="맑은 고딕"/>
              </a:rPr>
              <a:t>모작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2E8F0"/>
                </a:solidFill>
                <a:latin typeface="맑은 고딕"/>
              </a:rPr>
              <a:t>멈추지 않는 기차에 폭탄을 실어, 상대 기지를 날려라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맑은 고딕"/>
              </a:rPr>
              <a:t>장르: 액션 · 탑뷰 로컬 2인 멀티플레이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맑은 고딕"/>
              </a:rPr>
              <a:t>2023184027 이현렬 · 2023184037 허찬휘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게임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어떤 게임인가요?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E2E8F0"/>
                </a:solidFill>
                <a:latin typeface="맑은 고딕"/>
              </a:rPr>
              <a:t>자원을 캐서 </a:t>
            </a:r>
            <a:r>
              <a:rPr sz="2100" b="1">
                <a:solidFill>
                  <a:srgbClr val="F59E0B"/>
                </a:solidFill>
                <a:latin typeface="맑은 고딕"/>
              </a:rPr>
              <a:t>선로</a:t>
            </a:r>
            <a:r>
              <a:rPr sz="2100" b="1">
                <a:solidFill>
                  <a:srgbClr val="E2E8F0"/>
                </a:solidFill>
                <a:latin typeface="맑은 고딕"/>
              </a:rPr>
              <a:t>를 깔고, </a:t>
            </a:r>
            <a:r>
              <a:rPr sz="2100" b="1">
                <a:solidFill>
                  <a:srgbClr val="EF4444"/>
                </a:solidFill>
                <a:latin typeface="맑은 고딕"/>
              </a:rPr>
              <a:t>폭탄</a:t>
            </a:r>
            <a:r>
              <a:rPr sz="2100" b="1">
                <a:solidFill>
                  <a:srgbClr val="E2E8F0"/>
                </a:solidFill>
                <a:latin typeface="맑은 고딕"/>
              </a:rPr>
              <a:t>을 실은 기차를 </a:t>
            </a:r>
            <a:r>
              <a:rPr sz="2100" b="1">
                <a:solidFill>
                  <a:srgbClr val="10B981"/>
                </a:solidFill>
                <a:latin typeface="맑은 고딕"/>
              </a:rPr>
              <a:t>상대 기지</a:t>
            </a:r>
            <a:r>
              <a:rPr sz="2100" b="1">
                <a:solidFill>
                  <a:srgbClr val="E2E8F0"/>
                </a:solidFill>
                <a:latin typeface="맑은 고딕"/>
              </a:rPr>
              <a:t>에 먼저 도착시키는 실시간 1:1 대전 게임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8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맑은 고딕"/>
              </a:rPr>
              <a:t>💡 개발 동기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맑은 고딕"/>
              </a:rPr>
              <a:t>원작 Unrailed는 협동(co-op) 게임.
"여기에 PVP 요소를 넣으면 더 재밌겠다"는 생각에서 출발했습니다.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92608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맑은 고딕"/>
              </a:rPr>
              <a:t>🎮 한눈에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749039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맑은 고딕"/>
              </a:rPr>
              <a:t>탑뷰 · 로컬 2인 · 실시간 경쟁
자원 채집 · 선로 건설 · 방해 플레이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Unrailed! 모작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01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게임의 특징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이런 점이 재밌습니다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02152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07568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58775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멈추지 않는 기차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71800"/>
            <a:ext cx="3044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맑은 고딕"/>
              </a:rPr>
              <a:t>기차는 계속 전진. 선로가 끊기면 끝장!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874519"/>
            <a:ext cx="3502152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07568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⛏️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58775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자원 → 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971800"/>
            <a:ext cx="3044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맑은 고딕"/>
              </a:rPr>
              <a:t>나무·돌을 캐서 레일·장애물·폭탄 제작.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874519"/>
            <a:ext cx="3502152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07568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58775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폭탄 배달 승부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971800"/>
            <a:ext cx="3044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맑은 고딕"/>
              </a:rPr>
              <a:t>폭탄 실은 기차로 상대 기지 폭파 = 승리.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3502152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99592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50799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방해 플레이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892040"/>
            <a:ext cx="3044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맑은 고딕"/>
              </a:rPr>
              <a:t>상대 선로 앞에 장애물로 탈선 유도.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794760"/>
            <a:ext cx="3502152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99592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50799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로컬 2인 대전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892040"/>
            <a:ext cx="3044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맑은 고딕"/>
              </a:rPr>
              <a:t>한 화면을 위·아래로 나눠 동시 플레이.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94760"/>
            <a:ext cx="3502152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399592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450799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관리 요소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4892040"/>
            <a:ext cx="3044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맑은 고딕"/>
              </a:rPr>
              <a:t>물을 길어 기차 과열을 식히는 멀티태스킹.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게임 특징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02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게임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이기고 지는 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303520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맑은 고딕"/>
              </a:rPr>
              <a:t>✓ 승리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2E8F0"/>
                </a:solidFill>
                <a:latin typeface="맑은 고딕"/>
              </a:rPr>
              <a:t>폭탄을 실은 내 기차</a:t>
            </a:r>
            <a:r>
              <a:rPr sz="1700" b="0">
                <a:solidFill>
                  <a:srgbClr val="E2E8F0"/>
                </a:solidFill>
                <a:latin typeface="맑은 고딕"/>
              </a:rPr>
              <a:t>를 상대 기지에 도착시켜 </a:t>
            </a:r>
            <a:r>
              <a:rPr sz="1700" b="1">
                <a:solidFill>
                  <a:srgbClr val="E2E8F0"/>
                </a:solidFill>
                <a:latin typeface="맑은 고딕"/>
              </a:rPr>
              <a:t>기지를 폭파</a:t>
            </a:r>
            <a:r>
              <a:rPr sz="1700" b="0">
                <a:solidFill>
                  <a:srgbClr val="E2E8F0"/>
                </a:solidFill>
                <a:latin typeface="맑은 고딕"/>
              </a:rPr>
              <a:t>하면 승리!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→ 누가 먼저 선로를 잇고 폭탄을 배달하느냐의 싸움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303520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맑은 고딕"/>
              </a:rPr>
              <a:t>✗ 패배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맑은 고딕"/>
              </a:rPr>
              <a:t>• 장애물에 부딪혀 탈선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맑은 고딕"/>
              </a:rPr>
              <a:t>• 선로가 끊겨 더 못 감</a:t>
            </a:r>
          </a:p>
          <a:p>
            <a:pPr algn="l"/>
            <a:r>
              <a:rPr sz="1700" b="0">
                <a:solidFill>
                  <a:srgbClr val="E2E8F0"/>
                </a:solidFill>
                <a:latin typeface="맑은 고딕"/>
              </a:rPr>
              <a:t>• 폭탄 없이 빈 손으로 도착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434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※ 과열은 패배가 아니라 기차가 잠깐 멈추는 페널티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승리 / 패배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03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핵심 플레이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한 판의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2E8F0"/>
                </a:solidFill>
                <a:latin typeface="맑은 고딕"/>
              </a:rPr>
              <a:t>채집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나무·돌 자원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834640"/>
            <a:ext cx="42062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맑은 고딕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5603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9718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2E8F0"/>
                </a:solidFill>
                <a:latin typeface="맑은 고딕"/>
              </a:rPr>
              <a:t>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5204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레일·장애물·폭탄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34640"/>
            <a:ext cx="42062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맑은 고딕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6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5603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9718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2E8F0"/>
                </a:solidFill>
                <a:latin typeface="맑은 고딕"/>
              </a:rPr>
              <a:t>선로 건설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5204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상대 기지까지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2834640"/>
            <a:ext cx="42062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맑은 고딕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6024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25603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9718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2E8F0"/>
                </a:solidFill>
                <a:latin typeface="맑은 고딕"/>
              </a:rPr>
              <a:t>폭탄 배달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5204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기차로 기지 폭파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맑은 고딕"/>
              </a:rPr>
              <a:t>이 사이클을 </a:t>
            </a:r>
            <a:r>
              <a:rPr sz="1600" b="1">
                <a:solidFill>
                  <a:srgbClr val="E2E8F0"/>
                </a:solidFill>
                <a:latin typeface="맑은 고딕"/>
              </a:rPr>
              <a:t>상대보다 빠르게</a:t>
            </a:r>
            <a:r>
              <a:rPr sz="1600" b="0">
                <a:solidFill>
                  <a:srgbClr val="94A3B8"/>
                </a:solidFill>
                <a:latin typeface="맑은 고딕"/>
              </a:rPr>
              <a:t>, 그리고 </a:t>
            </a:r>
            <a:r>
              <a:rPr sz="1600" b="1">
                <a:solidFill>
                  <a:srgbClr val="E2E8F0"/>
                </a:solidFill>
                <a:latin typeface="맑은 고딕"/>
              </a:rPr>
              <a:t>상대를 방해</a:t>
            </a:r>
            <a:r>
              <a:rPr sz="1600" b="0">
                <a:solidFill>
                  <a:srgbClr val="94A3B8"/>
                </a:solidFill>
                <a:latin typeface="맑은 고딕"/>
              </a:rPr>
              <a:t>하면서 반복하는 것이 핵심입니다.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플레이 루프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04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자원 &amp; 제작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캐서 만든다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E2E8F0"/>
                </a:solidFill>
                <a:latin typeface="맑은 고딕"/>
              </a:rPr>
              <a:t>자동 채집</a:t>
            </a:r>
            <a:r>
              <a:rPr sz="1600" b="0">
                <a:solidFill>
                  <a:srgbClr val="E2E8F0"/>
                </a:solidFill>
                <a:latin typeface="맑은 고딕"/>
              </a:rPr>
              <a:t> — 플레이어가 자원 근처에 가면 자동으로 캐지고, 다 캐면 떨어진 자원을 주워 담습니다.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맑은 고딕"/>
              </a:rPr>
              <a:t>• 나무 · 돌 두 가지 자원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맑은 고딕"/>
              </a:rPr>
              <a:t>• 기지의 제작대에서 자원을 소모해 제작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377440"/>
            <a:ext cx="17373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65176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E2E8F0"/>
                </a:solidFill>
                <a:latin typeface="맑은 고딕"/>
              </a:rPr>
              <a:t>🛤️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3375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2E8F0"/>
                </a:solidFill>
                <a:latin typeface="맑은 고딕"/>
              </a:rPr>
              <a:t>레일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49039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나무+돌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377440"/>
            <a:ext cx="17373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65176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E2E8F0"/>
                </a:solidFill>
                <a:latin typeface="맑은 고딕"/>
              </a:rPr>
              <a:t>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3375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2E8F0"/>
                </a:solidFill>
                <a:latin typeface="맑은 고딕"/>
              </a:rPr>
              <a:t>장애물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749039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방해용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2377440"/>
            <a:ext cx="17373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0" y="265176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E2E8F0"/>
                </a:solidFill>
                <a:latin typeface="맑은 고딕"/>
              </a:rPr>
              <a:t>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33375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2E8F0"/>
                </a:solidFill>
                <a:latin typeface="맑은 고딕"/>
              </a:rPr>
              <a:t>폭탄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749039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기지 폭파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자원 / 제작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05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선로 건설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레일 깔기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5778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E2E8F0"/>
                </a:solidFill>
                <a:latin typeface="맑은 고딕"/>
              </a:rPr>
              <a:t>• 상하좌우 자유롭게 설치 — 직선뿐 아니라 커브로 꺾어 길을 만듦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E2E8F0"/>
                </a:solidFill>
                <a:latin typeface="맑은 고딕"/>
              </a:rPr>
              <a:t>• 설치하면 주변 레일과 자동으로 이어져 곡선 생성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E2E8F0"/>
                </a:solidFill>
                <a:latin typeface="맑은 고딕"/>
              </a:rPr>
              <a:t>• 내 기지에서 상대 기지까지 길을 연결하는 것이 목표</a:t>
            </a:r>
          </a:p>
          <a:p>
            <a:pPr algn="l"/>
            <a:r>
              <a:rPr sz="1550" b="0">
                <a:solidFill>
                  <a:srgbClr val="E2E8F0"/>
                </a:solidFill>
                <a:latin typeface="맑은 고딕"/>
              </a:rPr>
              <a:t>• 두 플레이어의 레일은 </a:t>
            </a:r>
            <a:r>
              <a:rPr sz="1550" b="1">
                <a:solidFill>
                  <a:srgbClr val="EF4444"/>
                </a:solidFill>
                <a:latin typeface="맑은 고딕"/>
              </a:rPr>
              <a:t>빨강</a:t>
            </a:r>
            <a:r>
              <a:rPr sz="1550" b="0">
                <a:solidFill>
                  <a:srgbClr val="E2E8F0"/>
                </a:solidFill>
                <a:latin typeface="맑은 고딕"/>
              </a:rPr>
              <a:t> / </a:t>
            </a:r>
            <a:r>
              <a:rPr sz="1550" b="1">
                <a:solidFill>
                  <a:srgbClr val="3B82F6"/>
                </a:solidFill>
                <a:latin typeface="맑은 고딕"/>
              </a:rPr>
              <a:t>파랑</a:t>
            </a:r>
            <a:r>
              <a:rPr sz="1550" b="0">
                <a:solidFill>
                  <a:srgbClr val="E2E8F0"/>
                </a:solidFill>
                <a:latin typeface="맑은 고딕"/>
              </a:rPr>
              <a:t> 으로 색 구분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920240"/>
            <a:ext cx="5120640" cy="31089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wUnraile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5120640" cy="2560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레일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06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기차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멈추지 않는 기차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02152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5176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자동 주행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63239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레일을 따라 스스로 전진하고 커브에서 회전.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874519"/>
            <a:ext cx="3502152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65176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과열 = 멈춤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3063239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과열되면 기차가 멈춤. 물로 식히면 다시 출발.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874519"/>
            <a:ext cx="3502152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65176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탈선 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3063239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앞 레일이 떨어지면 경고. 끊기면 탈선 = 패배.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80"/>
            <a:ext cx="1554480" cy="12801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om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82933"/>
            <a:ext cx="1554480" cy="70965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77440" y="4526280"/>
            <a:ext cx="8961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맑은 고딕"/>
              </a:rPr>
              <a:t>기차는 폭탄을 실으면 </a:t>
            </a:r>
            <a:r>
              <a:rPr sz="1500" b="1">
                <a:solidFill>
                  <a:srgbClr val="E2E8F0"/>
                </a:solidFill>
                <a:latin typeface="맑은 고딕"/>
              </a:rPr>
              <a:t>운반 칸</a:t>
            </a:r>
            <a:r>
              <a:rPr sz="1500" b="0">
                <a:solidFill>
                  <a:srgbClr val="94A3B8"/>
                </a:solidFill>
                <a:latin typeface="맑은 고딕"/>
              </a:rPr>
              <a:t>이 붙고, 상대 기지에 닿는 순간 폭발합니다.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기차 시스템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07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대전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이기기 위한 수 싸움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02152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1488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9748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속도 경쟁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08960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누가 더 빨리 자원을 모아 선로를 잇느냐.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920240"/>
            <a:ext cx="3502152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1488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69748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방해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3108960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상대 선로 앞에 장애물을 놓아 탈선.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20240"/>
            <a:ext cx="3502152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1488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맑은 고딕"/>
              </a:rPr>
              <a:t>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697480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맑은 고딕"/>
              </a:rPr>
              <a:t>폭탄 타이밍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3108960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기차 도착 전 폭탄을 실어야 승리.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맑은 고딕"/>
              </a:rPr>
              <a:t>건설·관리·방해를 동시에 처리해야 하는 멀티태스킹 두뇌 싸움입니다.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전략 요소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08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조작법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한 키보드, 두 플레이어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맑은 고딕"/>
              </a:rPr>
              <a:t>PLAYER 1  (위쪽 화면)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E2E8F0"/>
                </a:solidFill>
                <a:latin typeface="맑은 고딕"/>
              </a:rPr>
              <a:t>• 이동  W A S D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맑은 고딕"/>
              </a:rPr>
              <a:t>• Q 설치물 변경 · R 레일 방향 · E 설치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맑은 고딕"/>
              </a:rPr>
              <a:t>• F 양동이 줍기 / 놓기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맑은 고딕"/>
              </a:rPr>
              <a:t>PLAYER 2  (아래쪽 화면)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34640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E2E8F0"/>
                </a:solidFill>
                <a:latin typeface="맑은 고딕"/>
              </a:rPr>
              <a:t>• 이동  ← ↑ ↓ →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맑은 고딕"/>
              </a:rPr>
              <a:t>• 1 설치물 변경 · 2 레일 방향 · 3 설치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맑은 고딕"/>
              </a:rPr>
              <a:t>• 0 양동이 줍기 / 놓기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공통: ESC 메뉴 · F11 전체화면 · 시작화면에서 볼륨 조절·조작법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조작법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09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게임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편의 기능 &amp;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5669280" cy="32918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me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5167"/>
            <a:ext cx="5669280" cy="32819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210312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550" b="0">
                <a:solidFill>
                  <a:srgbClr val="E2E8F0"/>
                </a:solidFill>
                <a:latin typeface="맑은 고딕"/>
              </a:rPr>
              <a:t>• 시작 화면 — 게임시작 · 볼륨 · 조작법 버튼</a:t>
            </a:r>
          </a:p>
          <a:p>
            <a:pPr algn="l">
              <a:spcAft>
                <a:spcPts val="1100"/>
              </a:spcAft>
            </a:pPr>
            <a:r>
              <a:rPr sz="1550" b="0">
                <a:solidFill>
                  <a:srgbClr val="E2E8F0"/>
                </a:solidFill>
                <a:latin typeface="맑은 고딕"/>
              </a:rPr>
              <a:t>• 조작법 화면 — 두 플레이어 키 안내</a:t>
            </a:r>
          </a:p>
          <a:p>
            <a:pPr algn="l">
              <a:spcAft>
                <a:spcPts val="1100"/>
              </a:spcAft>
            </a:pPr>
            <a:r>
              <a:rPr sz="1550" b="0">
                <a:solidFill>
                  <a:srgbClr val="E2E8F0"/>
                </a:solidFill>
                <a:latin typeface="맑은 고딕"/>
              </a:rPr>
              <a:t>• 일시정지·설정 — ESC 진입, 볼륨 조절</a:t>
            </a:r>
          </a:p>
          <a:p>
            <a:pPr algn="l">
              <a:spcAft>
                <a:spcPts val="1100"/>
              </a:spcAft>
            </a:pPr>
            <a:r>
              <a:rPr sz="1550" b="0">
                <a:solidFill>
                  <a:srgbClr val="E2E8F0"/>
                </a:solidFill>
                <a:latin typeface="맑은 고딕"/>
              </a:rPr>
              <a:t>• 전체화면(F11) 지원</a:t>
            </a:r>
          </a:p>
          <a:p>
            <a:pPr algn="l"/>
            <a:r>
              <a:rPr sz="1550" b="0">
                <a:solidFill>
                  <a:srgbClr val="E2E8F0"/>
                </a:solidFill>
                <a:latin typeface="맑은 고딕"/>
              </a:rPr>
              <a:t>• BGM·효과음 + 게임 시작 연출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UI / 편의기능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개발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팀 &amp; 진행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맑은 고딕"/>
              </a:rPr>
              <a:t>역할 분담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E2E8F0"/>
                </a:solidFill>
                <a:latin typeface="맑은 고딕"/>
              </a:rPr>
              <a:t>이현렬</a:t>
            </a:r>
            <a:r>
              <a:rPr sz="1450" b="0">
                <a:solidFill>
                  <a:srgbClr val="94A3B8"/>
                </a:solidFill>
                <a:latin typeface="맑은 고딕"/>
              </a:rPr>
              <a:t> — 레일 설치, 폭탄 시스템, 열차 이동·과열, 승패 처리</a:t>
            </a:r>
          </a:p>
          <a:p>
            <a:pPr algn="l"/>
            <a:r>
              <a:rPr sz="1450" b="1">
                <a:solidFill>
                  <a:srgbClr val="E2E8F0"/>
                </a:solidFill>
                <a:latin typeface="맑은 고딕"/>
              </a:rPr>
              <a:t>허찬휘</a:t>
            </a:r>
            <a:r>
              <a:rPr sz="1450" b="0">
                <a:solidFill>
                  <a:srgbClr val="94A3B8"/>
                </a:solidFill>
                <a:latin typeface="맑은 고딕"/>
              </a:rPr>
              <a:t> — 플레이어 이동, 맵 제작, 장애물·자원 시스템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맑은 고딕"/>
              </a:rPr>
              <a:t>개발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3464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94A3B8"/>
                </a:solidFill>
                <a:latin typeface="맑은 고딕"/>
              </a:rPr>
              <a:t>• 플랫폼: </a:t>
            </a:r>
            <a:r>
              <a:rPr sz="1450" b="1">
                <a:solidFill>
                  <a:srgbClr val="E2E8F0"/>
                </a:solidFill>
                <a:latin typeface="맑은 고딕"/>
              </a:rPr>
              <a:t>Win32 API + GDI+ (C++)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94A3B8"/>
                </a:solidFill>
                <a:latin typeface="맑은 고딕"/>
              </a:rPr>
              <a:t>• 형태: 로컬 2인 분할화면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94A3B8"/>
                </a:solidFill>
                <a:latin typeface="맑은 고딕"/>
              </a:rPr>
              <a:t>• 맵: 타일 기반 / 양 끝 기지·자원</a:t>
            </a:r>
          </a:p>
          <a:p>
            <a:pPr algn="l"/>
            <a:r>
              <a:rPr sz="1450" b="0">
                <a:solidFill>
                  <a:srgbClr val="94A3B8"/>
                </a:solidFill>
                <a:latin typeface="맑은 고딕"/>
              </a:rPr>
              <a:t>• 기간: 약 5주 (단계별 구현)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※ 세부 구현 방식(렌더링·레일 알고리즘·최적화 등)은 질문 주시면 자세히 설명드리겠습니다.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0879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개발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ame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E2E8F0"/>
                </a:solidFill>
                <a:latin typeface="맑은 고딕"/>
              </a:rPr>
              <a:t>시연 &amp;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맑은 고딕"/>
              </a:rPr>
              <a:t>직접 플레이해 보겠습니다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맑은 고딕"/>
              </a:rPr>
              <a:t>Unrailed! 모작 · 이현렬 · 허찬휘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